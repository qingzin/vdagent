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9361d70161844c3" /><Relationship Type="http://schemas.openxmlformats.org/officeDocument/2006/relationships/extended-properties" Target="/docProps/app.xml" Id="R758d9903924a43e6" /><Relationship Type="http://schemas.openxmlformats.org/officeDocument/2006/relationships/officeDocument" Target="/ppt/presentation.xml" Id="R0c4ca8ce7270462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1e83ba224304a6f"/>
  </p:sldMasterIdLst>
  <p:notesMasterIdLst>
    <p:notesMasterId xmlns:r="http://schemas.openxmlformats.org/officeDocument/2006/relationships" r:id="R5c434cd885b4421a"/>
  </p:notesMasterIdLst>
  <p:sldIdLst>
    <p:sldId xmlns:r="http://schemas.openxmlformats.org/officeDocument/2006/relationships" id="256" r:id="Rec08b41f2de843f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e83ba224304a6f" /><Relationship Type="http://schemas.openxmlformats.org/officeDocument/2006/relationships/theme" Target="/ppt/theme/theme1.xml" Id="Ra495e8fb6e904e7c" /><Relationship Type="http://schemas.openxmlformats.org/officeDocument/2006/relationships/notesMaster" Target="/ppt/notesMasters/notesMaster1.xml" Id="R5c434cd885b4421a" /><Relationship Type="http://schemas.openxmlformats.org/officeDocument/2006/relationships/presProps" Target="/ppt/presProps.xml" Id="R756301e6f5c04767" /><Relationship Type="http://schemas.openxmlformats.org/officeDocument/2006/relationships/viewProps" Target="/ppt/viewProps.xml" Id="R06533e1df63a493b" /><Relationship Type="http://schemas.openxmlformats.org/officeDocument/2006/relationships/tableStyles" Target="/ppt/tableStyles.xml" Id="R57d31af95ab742cf" /><Relationship Type="http://schemas.openxmlformats.org/officeDocument/2006/relationships/slide" Target="/ppt/slides/slide1.xml" Id="Rec08b41f2de843f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78eefaa7538f42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ae85a6e036d403e" /><Relationship Type="http://schemas.openxmlformats.org/officeDocument/2006/relationships/notesMaster" Target="/ppt/notesMasters/notesMaster1.xml" Id="Rb7c8ac9468b54ab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单页项目管理式汇报：讲清当前阶段、未来能力域和目标架构，不展开实现细节。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vdAgent project architecture notes and current repository structure.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cccb80c6a24834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096E7062-9D74-42D0-8F0D-0D09DE7BC72D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4EDAF05F-7917-44D5-9201-BF03A55FECA2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BADB096-B97B-4B0E-9971-BA57CC3D40AE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DB625DE-C39F-4859-A7CE-7325FDFC9754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D36F797-4BCF-4F9E-B3B5-C1B3CF5492F9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de50bd82a9d48ca" /><Relationship Type="http://schemas.openxmlformats.org/officeDocument/2006/relationships/slideLayout" Target="/ppt/slideLayouts/slideLayout2.xml" Id="R19f59d1a6e6e405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BACB8F7-4FBD-439B-A4D7-9AA9A925E734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9f59d1a6e6e405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c602eeaf00043c8" /><Relationship Type="http://schemas.openxmlformats.org/officeDocument/2006/relationships/notesSlide" Target="/ppt/notesSlides/notesSlide1.xml" Id="R8a6dc9d0a907470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D36F797-4BCF-4F9E-B3B5-C1B3CF5492F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215CAA-08AA-4706-9A7B-B95377531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F12AE1-473A-4880-8301-36E12024E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524000" y="-1714500"/>
            <a:ext cx="4762500" cy="3714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FAEEBB-D457-48F9-923F-55F7FD3A1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857750"/>
            <a:ext cx="3143250" cy="2571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4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2243C7-C3E6-4AB5-80DE-BF167AB4C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9BEEBB-5C03-4C5B-BBF5-7205B9ACB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438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vdAgent 项目架构与阶段规划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0D3C6A-4F02-4740-BB34-2399CB5FC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9550"/>
            <a:ext cx="29146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55082D-B4AE-405B-B96E-21132E31D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6225"/>
            <a:ext cx="2647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当前阶段：能力梳理与架构规划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97E512-A89E-4713-85A0-9E0B83A36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76225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C9D2DC"/>
                </a:solidFill>
              </a:defRPr>
            </a:pPr>
            <a:r>
              <a:rPr sz="900" b="0">
                <a:solidFill>
                  <a:srgbClr val="C9D2DC"/>
                </a:solidFill>
              </a:rPr>
              <a:t>1 页汇报版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9A2518-8A0C-4F03-A5D9-3481AACC3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990600"/>
            <a:ext cx="628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8202A"/>
                </a:solidFill>
              </a:defRPr>
            </a:pPr>
            <a:r>
              <a:rPr sz="2175" b="1">
                <a:solidFill>
                  <a:srgbClr val="18202A"/>
                </a:solidFill>
              </a:rPr>
              <a:t>从可用 Agent 到可运营的智能仿真助手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E37DE7-CEF4-471A-88F2-9CEA72C0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8590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5404B"/>
                </a:solidFill>
              </a:defRPr>
            </a:pPr>
            <a:r>
              <a:rPr sz="1013" b="0">
                <a:solidFill>
                  <a:srgbClr val="35404B"/>
                </a:solidFill>
              </a:rPr>
              <a:t>当前处于“基础能力接入完成，进入能力治理与业务服务化设计”的阶段；下一步聚焦稳定工具边界、数据分析、报告自动化和语音/可视化入口。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A44770-42F3-420C-8A31-E0995425B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47900"/>
            <a:ext cx="2381250" cy="27432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F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DB915F-0047-4272-BF55-E0FDC7E8C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65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02A"/>
                </a:solidFill>
              </a:defRPr>
            </a:pPr>
            <a:r>
              <a:rPr sz="1200" b="1">
                <a:solidFill>
                  <a:srgbClr val="18202A"/>
                </a:solidFill>
              </a:rPr>
              <a:t>当前所处阶段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C76837-A033-4E5D-83A3-007DFA790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0"/>
            <a:ext cx="17907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1430">
            <a:solidFill>
              <a:srgbClr val="2F80E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4EF70A-97CF-47BC-AA7E-45B08C7C2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24175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4D8C"/>
                </a:solidFill>
              </a:defRPr>
            </a:pPr>
            <a:r>
              <a:rPr sz="1125" b="1">
                <a:solidFill>
                  <a:srgbClr val="174D8C"/>
                </a:solidFill>
              </a:rPr>
              <a:t>MVP 可用</a:t>
            </a:r>
          </a:p>
          <a:p xmlns:a="http://schemas.openxmlformats.org/drawingml/2006/main">
            <a:pPr algn="ctr">
              <a:defRPr sz="1125" b="1">
                <a:solidFill>
                  <a:srgbClr val="174D8C"/>
                </a:solidFill>
              </a:defRPr>
            </a:pPr>
            <a:r>
              <a:rPr sz="1125" b="1">
                <a:solidFill>
                  <a:srgbClr val="174D8C"/>
                </a:solidFill>
              </a:rPr>
              <a:t>进入治理与规划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33D324-2A83-4E0E-98C9-27EAEF630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004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5404B"/>
                </a:solidFill>
              </a:defRPr>
            </a:pPr>
            <a:r>
              <a:rPr sz="900" b="0">
                <a:solidFill>
                  <a:srgbClr val="35404B"/>
                </a:solidFill>
              </a:rPr>
              <a:t>已完成：</a:t>
            </a:r>
          </a:p>
          <a:p xmlns:a="http://schemas.openxmlformats.org/drawingml/2006/main">
            <a:pPr algn="l">
              <a:defRPr sz="900" b="0">
                <a:solidFill>
                  <a:srgbClr val="35404B"/>
                </a:solidFill>
              </a:defRPr>
            </a:pPr>
            <a:r>
              <a:rPr sz="900" b="0">
                <a:solidFill>
                  <a:srgbClr val="35404B"/>
                </a:solidFill>
              </a:rPr>
              <a:t>自然语言入口、工具注册、动作执行确认、基础仿真控制。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066317-B23B-4544-9583-97AA04EBA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4815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5404B"/>
                </a:solidFill>
              </a:defRPr>
            </a:pPr>
            <a:r>
              <a:rPr sz="900" b="0">
                <a:solidFill>
                  <a:srgbClr val="35404B"/>
                </a:solidFill>
              </a:rPr>
              <a:t>正在推进：</a:t>
            </a:r>
          </a:p>
          <a:p xmlns:a="http://schemas.openxmlformats.org/drawingml/2006/main">
            <a:pPr algn="l">
              <a:defRPr sz="900" b="0">
                <a:solidFill>
                  <a:srgbClr val="35404B"/>
                </a:solidFill>
              </a:defRPr>
            </a:pPr>
            <a:r>
              <a:rPr sz="900" b="0">
                <a:solidFill>
                  <a:srgbClr val="35404B"/>
                </a:solidFill>
              </a:rPr>
              <a:t>工具治理、业务服务化、未来能力路线图。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BB5E8F-119F-48DA-AEB5-F14D53532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20980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02A"/>
                </a:solidFill>
              </a:defRPr>
            </a:pPr>
            <a:r>
              <a:rPr sz="1275" b="1">
                <a:solidFill>
                  <a:srgbClr val="18202A"/>
                </a:solidFill>
              </a:rPr>
              <a:t>目标框架图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47C925-382E-419D-B177-16725B76D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609850"/>
            <a:ext cx="16383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5DDE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52C03B-116B-4961-AEBC-7672FDECA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724150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02A"/>
                </a:solidFill>
              </a:defRPr>
            </a:pPr>
            <a:r>
              <a:rPr sz="1125" b="1">
                <a:solidFill>
                  <a:srgbClr val="18202A"/>
                </a:solidFill>
              </a:rPr>
              <a:t>交互入口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19FCB1-E55F-4CCF-983F-654656F18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990850"/>
            <a:ext cx="1295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5404B"/>
                </a:solidFill>
              </a:defRPr>
            </a:pPr>
            <a:r>
              <a:rPr sz="788" b="0">
                <a:solidFill>
                  <a:srgbClr val="35404B"/>
                </a:solidFill>
              </a:rPr>
              <a:t>聊天 / 语音 / 快捷操作</a:t>
            </a:r>
          </a:p>
          <a:p xmlns:a="http://schemas.openxmlformats.org/drawingml/2006/main">
            <a:pPr algn="l">
              <a:defRPr sz="788" b="0">
                <a:solidFill>
                  <a:srgbClr val="35404B"/>
                </a:solidFill>
              </a:defRPr>
            </a:pPr>
            <a:r>
              <a:rPr sz="788" b="0">
                <a:solidFill>
                  <a:srgbClr val="35404B"/>
                </a:solidFill>
              </a:rPr>
              <a:t>可视化看板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02778B-72ED-4F38-99E8-756768D74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609850"/>
            <a:ext cx="17716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1430">
            <a:solidFill>
              <a:srgbClr val="B7D5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63F1AC-4517-46C6-8756-98570952F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7241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02A"/>
                </a:solidFill>
              </a:defRPr>
            </a:pPr>
            <a:r>
              <a:rPr sz="1125" b="1">
                <a:solidFill>
                  <a:srgbClr val="18202A"/>
                </a:solidFill>
              </a:rPr>
              <a:t>Agent 编排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41F6A1-2366-4A94-8D8F-E2056C42C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9908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5404B"/>
                </a:solidFill>
              </a:defRPr>
            </a:pPr>
            <a:r>
              <a:rPr sz="788" b="0">
                <a:solidFill>
                  <a:srgbClr val="35404B"/>
                </a:solidFill>
              </a:rPr>
              <a:t>理解意图 / 安全确认</a:t>
            </a:r>
          </a:p>
          <a:p xmlns:a="http://schemas.openxmlformats.org/drawingml/2006/main">
            <a:pPr algn="l">
              <a:defRPr sz="788" b="0">
                <a:solidFill>
                  <a:srgbClr val="35404B"/>
                </a:solidFill>
              </a:defRPr>
            </a:pPr>
            <a:r>
              <a:rPr sz="788" b="0">
                <a:solidFill>
                  <a:srgbClr val="35404B"/>
                </a:solidFill>
              </a:rPr>
              <a:t>计划与任务追踪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1F40F5-D165-4FA1-872F-6452B1CAE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609850"/>
            <a:ext cx="1809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7E5"/>
          </a:solidFill>
          <a:ln xmlns:a="http://schemas.openxmlformats.org/drawingml/2006/main" w="11430">
            <a:solidFill>
              <a:srgbClr val="F1D69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8603AE-039A-4ECB-8CC2-BBF6B3529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724150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02A"/>
                </a:solidFill>
              </a:defRPr>
            </a:pPr>
            <a:r>
              <a:rPr sz="1125" b="1">
                <a:solidFill>
                  <a:srgbClr val="18202A"/>
                </a:solidFill>
              </a:rPr>
              <a:t>工具网关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6D886E-437C-45B4-AB87-590C9D9ED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90850"/>
            <a:ext cx="1466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5404B"/>
                </a:solidFill>
              </a:defRPr>
            </a:pPr>
            <a:r>
              <a:rPr sz="788" b="0">
                <a:solidFill>
                  <a:srgbClr val="35404B"/>
                </a:solidFill>
              </a:rPr>
              <a:t>工具分级 / 权限控制</a:t>
            </a:r>
          </a:p>
          <a:p xmlns:a="http://schemas.openxmlformats.org/drawingml/2006/main">
            <a:pPr algn="l">
              <a:defRPr sz="788" b="0">
                <a:solidFill>
                  <a:srgbClr val="35404B"/>
                </a:solidFill>
              </a:defRPr>
            </a:pPr>
            <a:r>
              <a:rPr sz="788" b="0">
                <a:solidFill>
                  <a:srgbClr val="35404B"/>
                </a:solidFill>
              </a:rPr>
              <a:t>审计日志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4F5FD9-C3A9-4645-8B20-71A0537BE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943225"/>
            <a:ext cx="400050" cy="857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BA8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EAC3E8-5FF9-4581-AF76-00581E2A7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943225"/>
            <a:ext cx="400050" cy="857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BA8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0D3371-D74E-4CEF-BF9B-C057D5DCE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95700"/>
            <a:ext cx="21336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AFBF7"/>
          </a:solidFill>
          <a:ln xmlns:a="http://schemas.openxmlformats.org/drawingml/2006/main" w="11430">
            <a:solidFill>
              <a:srgbClr val="A9E5D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116FDF1-7419-4471-BE3E-E0238E81D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810000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02A"/>
                </a:solidFill>
              </a:defRPr>
            </a:pPr>
            <a:r>
              <a:rPr sz="1125" b="1">
                <a:solidFill>
                  <a:srgbClr val="18202A"/>
                </a:solidFill>
              </a:rPr>
              <a:t>业务能力层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A453B5-C9E0-4C67-8F33-69E23CF0E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076700"/>
            <a:ext cx="1790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5404B"/>
                </a:solidFill>
              </a:defRPr>
            </a:pPr>
            <a:r>
              <a:rPr sz="788" b="0">
                <a:solidFill>
                  <a:srgbClr val="35404B"/>
                </a:solidFill>
              </a:rPr>
              <a:t>快速切换、自主操作、离线分析、参数存档、报告生成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F22F5C5-DC5C-4BDB-BE88-72B160D12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95700"/>
            <a:ext cx="21336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5DDE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9062D6E-6B0E-45A9-A6C7-3623B8DA2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10000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02A"/>
                </a:solidFill>
              </a:defRPr>
            </a:pPr>
            <a:r>
              <a:rPr sz="1125" b="1">
                <a:solidFill>
                  <a:srgbClr val="18202A"/>
                </a:solidFill>
              </a:rPr>
              <a:t>仿真与数据系统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24F2246-1824-49F8-8B29-05B8185A0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076700"/>
            <a:ext cx="1790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5404B"/>
                </a:solidFill>
              </a:defRPr>
            </a:pPr>
            <a:r>
              <a:rPr sz="788" b="0">
                <a:solidFill>
                  <a:srgbClr val="35404B"/>
                </a:solidFill>
              </a:rPr>
              <a:t>CarSim、UDP、CSV、数据库、相机、运动平台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E8A171C-3226-4AE8-BF48-155799ACA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4086225"/>
            <a:ext cx="695325" cy="857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BA8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0E31869-C914-4C6A-84BB-A096350AB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4953000" y="3314700"/>
            <a:ext cx="1219200" cy="4286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BA8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44D3A83-85F5-498E-9A36-1978D5358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639050" y="3314700"/>
            <a:ext cx="666750" cy="4286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BA8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327E5F7-78FE-428C-8844-49453C4E8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819650"/>
            <a:ext cx="29908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8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676B8F7-63C8-4E32-A1CC-CC0E22A06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914900"/>
            <a:ext cx="2647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Hermes-like 自进化：先离线评测、再人工审核、最后合入发布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C286D3C-C0F0-43A3-A322-2928BCDBB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20980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02A"/>
                </a:solidFill>
              </a:defRPr>
            </a:pPr>
            <a:r>
              <a:rPr sz="1275" b="1">
                <a:solidFill>
                  <a:srgbClr val="18202A"/>
                </a:solidFill>
              </a:rPr>
              <a:t>未来能力版图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A2EFFBB-2959-4BBD-9A6A-41389EE16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590800"/>
            <a:ext cx="21145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AF2B370-D4A0-46D4-AB7B-69E003C97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7336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7030718-136B-4145-B4AF-F5753DCE9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686050"/>
            <a:ext cx="1657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02A"/>
                </a:solidFill>
              </a:defRPr>
            </a:pPr>
            <a:r>
              <a:rPr sz="1050" b="1">
                <a:solidFill>
                  <a:srgbClr val="18202A"/>
                </a:solidFill>
              </a:rPr>
              <a:t>快速切换 / 自主操作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9C33E4E-6AAC-4F68-8675-C6E888879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933700"/>
            <a:ext cx="1657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F7C87"/>
                </a:solidFill>
              </a:defRPr>
            </a:pPr>
            <a:r>
              <a:rPr sz="788" b="0">
                <a:solidFill>
                  <a:srgbClr val="6F7C87"/>
                </a:solidFill>
              </a:rPr>
              <a:t>一键完成常用实验流程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D5EE67B-416A-4AC7-9EE5-3642149D7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219450"/>
            <a:ext cx="21145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105F810-CE82-4595-978A-C14BF5F22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3623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B7A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586ED1A-A143-4F95-9F93-D347D21DF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314700"/>
            <a:ext cx="1657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02A"/>
                </a:solidFill>
              </a:defRPr>
            </a:pPr>
            <a:r>
              <a:rPr sz="1050" b="1">
                <a:solidFill>
                  <a:srgbClr val="18202A"/>
                </a:solidFill>
              </a:rPr>
              <a:t>离线数据读取与分析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D1E8CA5-179D-4922-87E9-5DADBCA49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562350"/>
            <a:ext cx="1657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F7C87"/>
                </a:solidFill>
              </a:defRPr>
            </a:pPr>
            <a:r>
              <a:rPr sz="788" b="0">
                <a:solidFill>
                  <a:srgbClr val="6F7C87"/>
                </a:solidFill>
              </a:rPr>
              <a:t>自动识别记录并输出结论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83B22E7-69B8-4EF7-9CFA-66BB7267D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848100"/>
            <a:ext cx="21145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100EB34-295E-48BF-B55F-AE7A8898A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9909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4D42074-2F2A-460C-A485-1FB57B639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943350"/>
            <a:ext cx="1657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02A"/>
                </a:solidFill>
              </a:defRPr>
            </a:pPr>
            <a:r>
              <a:rPr sz="1050" b="1">
                <a:solidFill>
                  <a:srgbClr val="18202A"/>
                </a:solidFill>
              </a:rPr>
              <a:t>参数在线读取与存档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A50116B-5D9A-41BB-A723-B35509539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191000"/>
            <a:ext cx="1657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F7C87"/>
                </a:solidFill>
              </a:defRPr>
            </a:pPr>
            <a:r>
              <a:rPr sz="788" b="0">
                <a:solidFill>
                  <a:srgbClr val="6F7C87"/>
                </a:solidFill>
              </a:rPr>
              <a:t>快照、差异、追溯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2E3444C-E3EC-415E-9F63-3F17B7A8D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476750"/>
            <a:ext cx="21145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937B5E7-9490-4AC2-AED1-540F7C0A6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6196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EE49F7B-BFA7-4EC2-8736-8C99192A4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572000"/>
            <a:ext cx="1657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02A"/>
                </a:solidFill>
              </a:defRPr>
            </a:pPr>
            <a:r>
              <a:rPr sz="1050" b="1">
                <a:solidFill>
                  <a:srgbClr val="18202A"/>
                </a:solidFill>
              </a:rPr>
              <a:t>评价表格与报告自动化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D879283-BAA8-40AE-BF99-425D0CCC1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819650"/>
            <a:ext cx="1657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F7C87"/>
                </a:solidFill>
              </a:defRPr>
            </a:pPr>
            <a:r>
              <a:rPr sz="788" b="0">
                <a:solidFill>
                  <a:srgbClr val="6F7C87"/>
                </a:solidFill>
              </a:rPr>
              <a:t>录入、图表、报告生成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0AB215E-F93C-4D57-B060-80A28416B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105400"/>
            <a:ext cx="21145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04B03FF-8695-40C7-96B6-4E3F61013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248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6E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7C06F9F-B50B-4CBB-9581-E5A40D80D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200650"/>
            <a:ext cx="1657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02A"/>
                </a:solidFill>
              </a:defRPr>
            </a:pPr>
            <a:r>
              <a:rPr sz="1050" b="1">
                <a:solidFill>
                  <a:srgbClr val="18202A"/>
                </a:solidFill>
              </a:rPr>
              <a:t>语音交互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0D6C413-19B5-4E08-B63C-418548D67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448300"/>
            <a:ext cx="1657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F7C87"/>
                </a:solidFill>
              </a:defRPr>
            </a:pPr>
            <a:r>
              <a:rPr sz="788" b="0">
                <a:solidFill>
                  <a:srgbClr val="6F7C87"/>
                </a:solidFill>
              </a:rPr>
              <a:t>现场免手操作与播报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6AA8EF2-5481-4777-984D-B77A4643C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734050"/>
            <a:ext cx="21145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E57246E-AFCB-439F-A15F-C19E4B798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8769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55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C9C153C-0166-49A4-A64F-AEFD51C06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829300"/>
            <a:ext cx="1657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02A"/>
                </a:solidFill>
              </a:defRPr>
            </a:pPr>
            <a:r>
              <a:rPr sz="1050" b="1">
                <a:solidFill>
                  <a:srgbClr val="18202A"/>
                </a:solidFill>
              </a:rPr>
              <a:t>可视化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132DC63-00A0-441F-BB81-648AE727F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076950"/>
            <a:ext cx="1657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F7C87"/>
                </a:solidFill>
              </a:defRPr>
            </a:pPr>
            <a:r>
              <a:rPr sz="788" b="0">
                <a:solidFill>
                  <a:srgbClr val="6F7C87"/>
                </a:solidFill>
              </a:rPr>
              <a:t>执行链路、指标和异常看板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AD734BC-B70D-4AE5-A77F-CC1711F3F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429250"/>
            <a:ext cx="87058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 w="11430">
            <a:solidFill>
              <a:srgbClr val="D7DFE7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5185FB1-8122-4F83-9B80-5B9328B37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197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02A"/>
                </a:solidFill>
              </a:defRPr>
            </a:pPr>
            <a:r>
              <a:rPr sz="1125" b="1">
                <a:solidFill>
                  <a:srgbClr val="18202A"/>
                </a:solidFill>
              </a:rPr>
              <a:t>下一阶段路线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69C13D0-42E2-4940-A71C-8B9451556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981700"/>
            <a:ext cx="6286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A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E91E64E-F63D-41AC-A995-A0B7A1EC1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924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E687D9B-2062-4470-A850-F13B2076F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6153150"/>
            <a:ext cx="838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8202A"/>
                </a:solidFill>
              </a:defRPr>
            </a:pPr>
            <a:r>
              <a:rPr sz="900" b="1">
                <a:solidFill>
                  <a:srgbClr val="18202A"/>
                </a:solidFill>
              </a:rPr>
              <a:t>现在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411300B-5AAC-4007-BD42-A738116ED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6381750"/>
            <a:ext cx="1238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F7C87"/>
                </a:solidFill>
              </a:defRPr>
            </a:pPr>
            <a:r>
              <a:rPr sz="713" b="0">
                <a:solidFill>
                  <a:srgbClr val="6F7C87"/>
                </a:solidFill>
              </a:rPr>
              <a:t>工具梳理</a:t>
            </a:r>
          </a:p>
          <a:p xmlns:a="http://schemas.openxmlformats.org/drawingml/2006/main">
            <a:pPr algn="ctr">
              <a:defRPr sz="713" b="0">
                <a:solidFill>
                  <a:srgbClr val="6F7C87"/>
                </a:solidFill>
              </a:defRPr>
            </a:pPr>
            <a:r>
              <a:rPr sz="713" b="0">
                <a:solidFill>
                  <a:srgbClr val="6F7C87"/>
                </a:solidFill>
              </a:rPr>
              <a:t>架构规划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830E252-1889-474D-91F2-DEAB4817C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924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B7A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5B0BD76-2FA8-44AF-82D8-111E8326C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6153150"/>
            <a:ext cx="838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35404B"/>
                </a:solidFill>
              </a:defRPr>
            </a:pPr>
            <a:r>
              <a:rPr sz="900" b="0">
                <a:solidFill>
                  <a:srgbClr val="35404B"/>
                </a:solidFill>
              </a:rPr>
              <a:t>近期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BB468CA-9625-48AA-89D8-562F67A60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6381750"/>
            <a:ext cx="1238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F7C87"/>
                </a:solidFill>
              </a:defRPr>
            </a:pPr>
            <a:r>
              <a:rPr sz="713" b="0">
                <a:solidFill>
                  <a:srgbClr val="6F7C87"/>
                </a:solidFill>
              </a:rPr>
              <a:t>工具分级</a:t>
            </a:r>
          </a:p>
          <a:p xmlns:a="http://schemas.openxmlformats.org/drawingml/2006/main">
            <a:pPr algn="ctr">
              <a:defRPr sz="713" b="0">
                <a:solidFill>
                  <a:srgbClr val="6F7C87"/>
                </a:solidFill>
              </a:defRPr>
            </a:pPr>
            <a:r>
              <a:rPr sz="713" b="0">
                <a:solidFill>
                  <a:srgbClr val="6F7C87"/>
                </a:solidFill>
              </a:rPr>
              <a:t>服务抽取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5A68F50-7801-4646-B64E-915567084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924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BA9DDD9-B0D4-4E43-82A4-426CB3FBA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153150"/>
            <a:ext cx="838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35404B"/>
                </a:solidFill>
              </a:defRPr>
            </a:pPr>
            <a:r>
              <a:rPr sz="900" b="0">
                <a:solidFill>
                  <a:srgbClr val="35404B"/>
                </a:solidFill>
              </a:rPr>
              <a:t>中期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F3561D5-66B3-49BF-A250-2DC5DC0E8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381750"/>
            <a:ext cx="1238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F7C87"/>
                </a:solidFill>
              </a:defRPr>
            </a:pPr>
            <a:r>
              <a:rPr sz="713" b="0">
                <a:solidFill>
                  <a:srgbClr val="6F7C87"/>
                </a:solidFill>
              </a:rPr>
              <a:t>离线分析</a:t>
            </a:r>
          </a:p>
          <a:p xmlns:a="http://schemas.openxmlformats.org/drawingml/2006/main">
            <a:pPr algn="ctr">
              <a:defRPr sz="713" b="0">
                <a:solidFill>
                  <a:srgbClr val="6F7C87"/>
                </a:solidFill>
              </a:defRPr>
            </a:pPr>
            <a:r>
              <a:rPr sz="713" b="0">
                <a:solidFill>
                  <a:srgbClr val="6F7C87"/>
                </a:solidFill>
              </a:rPr>
              <a:t>报告自动化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B21FF12-395C-4A60-88E2-2056BF5B9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924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B02B844-F842-4C2B-A38F-BE3E8AC8F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6153150"/>
            <a:ext cx="838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35404B"/>
                </a:solidFill>
              </a:defRPr>
            </a:pPr>
            <a:r>
              <a:rPr sz="900" b="0">
                <a:solidFill>
                  <a:srgbClr val="35404B"/>
                </a:solidFill>
              </a:rPr>
              <a:t>增强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0BC4064-778F-4EFC-BE10-BB1ACDF3E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6381750"/>
            <a:ext cx="1238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F7C87"/>
                </a:solidFill>
              </a:defRPr>
            </a:pPr>
            <a:r>
              <a:rPr sz="713" b="0">
                <a:solidFill>
                  <a:srgbClr val="6F7C87"/>
                </a:solidFill>
              </a:rPr>
              <a:t>语音入口</a:t>
            </a:r>
          </a:p>
          <a:p xmlns:a="http://schemas.openxmlformats.org/drawingml/2006/main">
            <a:pPr algn="ctr">
              <a:defRPr sz="713" b="0">
                <a:solidFill>
                  <a:srgbClr val="6F7C87"/>
                </a:solidFill>
              </a:defRPr>
            </a:pPr>
            <a:r>
              <a:rPr sz="713" b="0">
                <a:solidFill>
                  <a:srgbClr val="6F7C87"/>
                </a:solidFill>
              </a:rPr>
              <a:t>可视化看板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4253115-0F6B-42A4-91BF-D809FA88F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924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6EE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09B6DAC-88B9-4258-962E-46789E84F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153150"/>
            <a:ext cx="838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35404B"/>
                </a:solidFill>
              </a:defRPr>
            </a:pPr>
            <a:r>
              <a:rPr sz="900" b="0">
                <a:solidFill>
                  <a:srgbClr val="35404B"/>
                </a:solidFill>
              </a:rPr>
              <a:t>远期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58229AE-FCB3-4CA9-B16D-CE069AC03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6381750"/>
            <a:ext cx="1238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F7C87"/>
                </a:solidFill>
              </a:defRPr>
            </a:pPr>
            <a:r>
              <a:rPr sz="713" b="0">
                <a:solidFill>
                  <a:srgbClr val="6F7C87"/>
                </a:solidFill>
              </a:rPr>
              <a:t>评测闭环</a:t>
            </a:r>
          </a:p>
          <a:p xmlns:a="http://schemas.openxmlformats.org/drawingml/2006/main">
            <a:pPr algn="ctr">
              <a:defRPr sz="713" b="0">
                <a:solidFill>
                  <a:srgbClr val="6F7C87"/>
                </a:solidFill>
              </a:defRPr>
            </a:pPr>
            <a:r>
              <a:rPr sz="713" b="0">
                <a:solidFill>
                  <a:srgbClr val="6F7C87"/>
                </a:solidFill>
              </a:rPr>
              <a:t>安全自进化</a:t>
            </a:r>
          </a:p>
        </p:txBody>
      </p:sp>
    </p:spTree>
    <p:extLst>
      <p:ext uri="{BB962C8B-B14F-4D97-AF65-F5344CB8AC3E}">
        <p14:creationId xmlns:p14="http://schemas.microsoft.com/office/powerpoint/2010/main" val="14829213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2026-04-21T02:41:26.5870000Z</dcterms:created>
  <dcterms:modified xsi:type="dcterms:W3CDTF">2026-04-21T02:41:26.5870000Z</dcterms:modified>
</coreProperties>
</file>